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88" r:id="rId4"/>
    <p:sldId id="294" r:id="rId5"/>
    <p:sldId id="290" r:id="rId6"/>
    <p:sldId id="291" r:id="rId7"/>
    <p:sldId id="292" r:id="rId8"/>
    <p:sldId id="29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324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rnTHXeJED+kEvQ1imB/iQfcRs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pos="2324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1ade00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631ade00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14A6621A-7959-9E05-A0E3-C65ECC43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571CFA53-0487-D29E-67B8-0DEF956EE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C99E8DBE-2931-7BD6-DC04-1CE0D14C8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633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507B45E4-EB74-2EDA-B27F-A37B3EBF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399425D4-92A5-2FD0-D41E-3C1BA649B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9FD4B0A5-9F37-0A5C-C10C-B3884A430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37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8F0AEC08-CF0E-5927-7583-76697ECA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7DBD877F-01B2-8936-D473-4F8A8CA7B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6EB567FF-BD45-F466-90F5-440A5E1980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245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46C96688-E4DD-023D-F307-0A0D9561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9E68BE5B-2B40-1B28-9575-F7EBD34B8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5132D349-3CD5-0F5A-C049-5779C09AC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82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1707CD7-0CD9-662D-0F64-C462AE4E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9F03AC23-857F-CD16-7F81-0C2F2B879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E56C7C56-FA05-7C45-6EF3-7A6441524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968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24AC994D-7843-889A-C933-FD219C44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D5A9F589-8F42-4932-C2E5-632119407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DA40C4DA-A9C9-3EF8-30E4-76065DA51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344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1C802B07-BD41-C7AD-DBE5-ED2BEEB9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45892eded_0_0:notes">
            <a:extLst>
              <a:ext uri="{FF2B5EF4-FFF2-40B4-BE49-F238E27FC236}">
                <a16:creationId xmlns:a16="http://schemas.microsoft.com/office/drawing/2014/main" id="{D31F5660-9475-53F1-6165-6E0EF4528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645892eded_0_0:notes">
            <a:extLst>
              <a:ext uri="{FF2B5EF4-FFF2-40B4-BE49-F238E27FC236}">
                <a16:creationId xmlns:a16="http://schemas.microsoft.com/office/drawing/2014/main" id="{0C5F228F-DF0E-C9C6-12B0-AF999D459E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16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1efb42cd617_0_2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1efb42cd617_0_2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g1efb42cd617_0_2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f55e7afaa4_0_5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1f55e7afaa4_0_5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g1f55e7afaa4_0_5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g1f55e7afaa4_0_5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g1f55e7afaa4_0_5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efb42cd617_0_2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g1efb42cd617_0_2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g1efb42cd617_0_2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Portada Diseño foto">
  <p:cSld name="1. Portada Diseño fo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efb42cd617_0_220"/>
          <p:cNvSpPr txBox="1">
            <a:spLocks noGrp="1"/>
          </p:cNvSpPr>
          <p:nvPr>
            <p:ph type="body" idx="1"/>
          </p:nvPr>
        </p:nvSpPr>
        <p:spPr>
          <a:xfrm>
            <a:off x="359569" y="2894749"/>
            <a:ext cx="4212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1efb42cd617_0_220"/>
          <p:cNvSpPr txBox="1">
            <a:spLocks noGrp="1"/>
          </p:cNvSpPr>
          <p:nvPr>
            <p:ph type="title"/>
          </p:nvPr>
        </p:nvSpPr>
        <p:spPr>
          <a:xfrm>
            <a:off x="359569" y="1059656"/>
            <a:ext cx="42126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Poppins ExtraBold"/>
              <a:buNone/>
              <a:defRPr sz="4200" b="0" i="0" u="none" strike="noStrike" cap="none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1efb42cd617_0_220"/>
          <p:cNvSpPr/>
          <p:nvPr/>
        </p:nvSpPr>
        <p:spPr>
          <a:xfrm>
            <a:off x="359569" y="3975497"/>
            <a:ext cx="5776800" cy="268200"/>
          </a:xfrm>
          <a:prstGeom prst="rect">
            <a:avLst/>
          </a:prstGeom>
          <a:solidFill>
            <a:srgbClr val="A1E6C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1efb42cd617_0_220"/>
          <p:cNvSpPr/>
          <p:nvPr/>
        </p:nvSpPr>
        <p:spPr>
          <a:xfrm>
            <a:off x="5975746" y="3975497"/>
            <a:ext cx="3168300" cy="268200"/>
          </a:xfrm>
          <a:prstGeom prst="rect">
            <a:avLst/>
          </a:prstGeom>
          <a:solidFill>
            <a:srgbClr val="A1E6C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1efb42cd617_0_220"/>
          <p:cNvSpPr txBox="1">
            <a:spLocks noGrp="1"/>
          </p:cNvSpPr>
          <p:nvPr>
            <p:ph type="body" idx="2"/>
          </p:nvPr>
        </p:nvSpPr>
        <p:spPr>
          <a:xfrm>
            <a:off x="6335240" y="4214536"/>
            <a:ext cx="24492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1efb42cd617_0_220"/>
          <p:cNvSpPr>
            <a:spLocks noGrp="1"/>
          </p:cNvSpPr>
          <p:nvPr>
            <p:ph type="pic" idx="3"/>
          </p:nvPr>
        </p:nvSpPr>
        <p:spPr>
          <a:xfrm>
            <a:off x="4572000" y="1059657"/>
            <a:ext cx="4572000" cy="29157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g1efb42cd617_0_220"/>
          <p:cNvSpPr/>
          <p:nvPr/>
        </p:nvSpPr>
        <p:spPr>
          <a:xfrm>
            <a:off x="359568" y="4243733"/>
            <a:ext cx="8784600" cy="899700"/>
          </a:xfrm>
          <a:prstGeom prst="rect">
            <a:avLst/>
          </a:prstGeom>
          <a:solidFill>
            <a:srgbClr val="355F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f55e7afaa4_0_588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1f55e7afaa4_0_588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g1f55e7afaa4_0_58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co">
  <p:cSld name="5. Blanco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efb42cd617_0_228"/>
          <p:cNvSpPr txBox="1"/>
          <p:nvPr/>
        </p:nvSpPr>
        <p:spPr>
          <a:xfrm>
            <a:off x="7600069" y="4995399"/>
            <a:ext cx="968400" cy="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1efb42cd617_0_228"/>
          <p:cNvSpPr txBox="1">
            <a:spLocks noGrp="1"/>
          </p:cNvSpPr>
          <p:nvPr>
            <p:ph type="title"/>
          </p:nvPr>
        </p:nvSpPr>
        <p:spPr>
          <a:xfrm>
            <a:off x="386954" y="300038"/>
            <a:ext cx="8370000" cy="45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Poppins"/>
              <a:buNone/>
              <a:defRPr sz="38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g1efb42cd617_0_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302" y="4980761"/>
            <a:ext cx="657625" cy="128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efb42cd617_0_2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g1efb42cd617_0_2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efb42cd617_0_244"/>
          <p:cNvSpPr txBox="1">
            <a:spLocks noGrp="1"/>
          </p:cNvSpPr>
          <p:nvPr>
            <p:ph type="title"/>
          </p:nvPr>
        </p:nvSpPr>
        <p:spPr>
          <a:xfrm>
            <a:off x="3130676" y="1801445"/>
            <a:ext cx="2882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5000" b="1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1efb42cd617_0_244"/>
          <p:cNvSpPr txBox="1">
            <a:spLocks noGrp="1"/>
          </p:cNvSpPr>
          <p:nvPr>
            <p:ph type="body" idx="1"/>
          </p:nvPr>
        </p:nvSpPr>
        <p:spPr>
          <a:xfrm>
            <a:off x="525881" y="1640840"/>
            <a:ext cx="8092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1efb42cd617_0_244"/>
          <p:cNvSpPr txBox="1">
            <a:spLocks noGrp="1"/>
          </p:cNvSpPr>
          <p:nvPr>
            <p:ph type="ftr" idx="11"/>
          </p:nvPr>
        </p:nvSpPr>
        <p:spPr>
          <a:xfrm>
            <a:off x="3108960" y="4783456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g1efb42cd617_0_244"/>
          <p:cNvSpPr txBox="1">
            <a:spLocks noGrp="1"/>
          </p:cNvSpPr>
          <p:nvPr>
            <p:ph type="dt" idx="10"/>
          </p:nvPr>
        </p:nvSpPr>
        <p:spPr>
          <a:xfrm>
            <a:off x="457200" y="4783456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g1efb42cd617_0_244"/>
          <p:cNvSpPr txBox="1">
            <a:spLocks noGrp="1"/>
          </p:cNvSpPr>
          <p:nvPr>
            <p:ph type="sldNum" idx="12"/>
          </p:nvPr>
        </p:nvSpPr>
        <p:spPr>
          <a:xfrm>
            <a:off x="6583680" y="4783456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74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73">
          <p15:clr>
            <a:srgbClr val="F26B43"/>
          </p15:clr>
        </p15:guide>
        <p15:guide id="2" pos="2880">
          <p15:clr>
            <a:srgbClr val="F26B43"/>
          </p15:clr>
        </p15:guide>
        <p15:guide id="3" pos="244">
          <p15:clr>
            <a:srgbClr val="F26B43"/>
          </p15:clr>
        </p15:guide>
        <p15:guide id="4" orient="horz" pos="191">
          <p15:clr>
            <a:srgbClr val="F26B43"/>
          </p15:clr>
        </p15:guide>
        <p15:guide id="5" pos="5516">
          <p15:clr>
            <a:srgbClr val="F26B43"/>
          </p15:clr>
        </p15:guide>
        <p15:guide id="6" pos="1571">
          <p15:clr>
            <a:srgbClr val="F26B43"/>
          </p15:clr>
        </p15:guide>
        <p15:guide id="7" orient="horz" pos="3049">
          <p15:clr>
            <a:srgbClr val="F26B43"/>
          </p15:clr>
        </p15:guide>
        <p15:guide id="8" orient="horz" pos="1620">
          <p15:clr>
            <a:srgbClr val="F26B43"/>
          </p15:clr>
        </p15:guide>
        <p15:guide id="9" pos="4189">
          <p15:clr>
            <a:srgbClr val="F26B43"/>
          </p15:clr>
        </p15:guide>
        <p15:guide id="10" orient="horz" pos="6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631ade00a6_0_0"/>
          <p:cNvPicPr preferRelativeResize="0"/>
          <p:nvPr/>
        </p:nvPicPr>
        <p:blipFill rotWithShape="1">
          <a:blip r:embed="rId3">
            <a:alphaModFix/>
          </a:blip>
          <a:srcRect t="9679" b="5931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631ade00a6_0_0"/>
          <p:cNvPicPr preferRelativeResize="0"/>
          <p:nvPr/>
        </p:nvPicPr>
        <p:blipFill rotWithShape="1">
          <a:blip r:embed="rId4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0" y="0"/>
            <a:ext cx="9143998" cy="515363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631ade00a6_0_0"/>
          <p:cNvSpPr txBox="1"/>
          <p:nvPr/>
        </p:nvSpPr>
        <p:spPr>
          <a:xfrm>
            <a:off x="-5" y="845888"/>
            <a:ext cx="90915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SzPts val="4219"/>
            </a:pPr>
            <a:r>
              <a:rPr lang="es-ES" sz="3600" b="1" i="0" u="none" strike="noStrike" cap="none" dirty="0">
                <a:solidFill>
                  <a:schemeClr val="bg1"/>
                </a:solidFill>
                <a:latin typeface="Poppins"/>
                <a:ea typeface="Poppins Light"/>
                <a:cs typeface="Poppins"/>
                <a:sym typeface="Poppins"/>
              </a:rPr>
              <a:t>RAG COLAB</a:t>
            </a:r>
            <a:endParaRPr lang="es-ES" sz="3200" b="1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7" name="Google Shape;57;g3631ade00a6_0_0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8" name="Google Shape;58;g3631ade00a6_0_0"/>
          <p:cNvSpPr/>
          <p:nvPr/>
        </p:nvSpPr>
        <p:spPr>
          <a:xfrm>
            <a:off x="381075" y="3949313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9" name="Google Shape;59;g3631ade00a6_0_0"/>
          <p:cNvSpPr txBox="1"/>
          <p:nvPr/>
        </p:nvSpPr>
        <p:spPr>
          <a:xfrm>
            <a:off x="1545745" y="2751544"/>
            <a:ext cx="60000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noProof="0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Wilson Forero</a:t>
            </a:r>
          </a:p>
        </p:txBody>
      </p:sp>
      <p:sp>
        <p:nvSpPr>
          <p:cNvPr id="60" name="Google Shape;60;g3631ade00a6_0_0"/>
          <p:cNvSpPr txBox="1"/>
          <p:nvPr/>
        </p:nvSpPr>
        <p:spPr>
          <a:xfrm>
            <a:off x="381063" y="4370835"/>
            <a:ext cx="48909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noProof="0" dirty="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Master </a:t>
            </a:r>
            <a:r>
              <a:rPr lang="es-ES" sz="1200" b="0" i="0" u="none" strike="noStrike" cap="none" noProof="0" dirty="0" err="1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</a:t>
            </a:r>
            <a:endParaRPr lang="es-ES" sz="1200" b="0" i="0" u="none" strike="noStrike" cap="none" noProof="0" dirty="0">
              <a:solidFill>
                <a:srgbClr val="D9D9D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61" name="Google Shape;61;g3631ade00a6_0_0"/>
          <p:cNvCxnSpPr/>
          <p:nvPr/>
        </p:nvCxnSpPr>
        <p:spPr>
          <a:xfrm>
            <a:off x="7621800" y="4401725"/>
            <a:ext cx="0" cy="479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2" name="Google Shape;62;g3631ade00a6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2000" y="4542150"/>
            <a:ext cx="1166176" cy="2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75A4833B-28B5-DB64-E575-7BD66F0E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4438CE76-BD66-6BDB-024E-4F4B940A1D4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Futuristic and visually engaging scene representing the concepts of modern AI: LLM (Large Language Models), Fine-Tuning, RAG (Retrieval-Augmented Generation), AI Agents, and Agentic AI. The setting is a sleek digital auditorium or masterclass stage, with holographic interfaces floating in the air. Each concept is represented visually: LLM as a giant neural network globe, Fine-Tuning as a sculptor adjusting a statue, RAG as an AI connecting to a vast library of information in real time, AI Agents as humanoid digital assistants interacting with users, and Agentic AI as an independent, glowing entity making autonomous decisions. High-tech, professional, and inspirational atmosphere, with dynamic lighting and a sense of innovation and discovery.">
            <a:extLst>
              <a:ext uri="{FF2B5EF4-FFF2-40B4-BE49-F238E27FC236}">
                <a16:creationId xmlns:a16="http://schemas.microsoft.com/office/drawing/2014/main" id="{49DFE9E9-0679-FBC1-FA81-12CA95198A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67577A28-5E3F-97A5-DF5D-5609FB7CC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95" y="1002182"/>
            <a:ext cx="8728809" cy="34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3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833F6B3-B806-D5A6-D722-EBF6DD4B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3DC4445A-784A-34C1-7029-F2E13C002D5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F6E96764-5A34-EE13-F96D-DD72BE704DB1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6" name="Imagen 5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2870E376-5F89-DF9F-9797-4522EC939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6" y="836541"/>
            <a:ext cx="3106767" cy="38983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E114AC-28A5-A1F2-C9D3-A64C155D07E3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Ollama</a:t>
            </a:r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s-ES" sz="1800" dirty="0"/>
              <a:t>IA local, privada y fácil de usar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BD52FC-A4D2-ACC1-CAB0-7CBBE77E8C24}"/>
              </a:ext>
            </a:extLst>
          </p:cNvPr>
          <p:cNvSpPr txBox="1"/>
          <p:nvPr/>
        </p:nvSpPr>
        <p:spPr>
          <a:xfrm>
            <a:off x="3575823" y="1771531"/>
            <a:ext cx="493627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Plataforma para </a:t>
            </a:r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ejecutar modelos de lenguaje (</a:t>
            </a:r>
            <a:r>
              <a:rPr lang="es-ES" b="1" dirty="0" err="1">
                <a:latin typeface="Poppins" panose="00000500000000000000" pitchFamily="2" charset="0"/>
                <a:cs typeface="Poppins" panose="00000500000000000000" pitchFamily="2" charset="0"/>
              </a:rPr>
              <a:t>LLMs</a:t>
            </a:r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) de forma local</a:t>
            </a:r>
            <a:endParaRPr lang="es-E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Permite usar modelos de IA </a:t>
            </a:r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sin conexión a la nube</a:t>
            </a:r>
            <a:endParaRPr lang="es-E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Diseñada para </a:t>
            </a:r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desarrolladores y equipos técnicos</a:t>
            </a:r>
            <a:endParaRPr lang="es-E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Funciona en </a:t>
            </a:r>
            <a:r>
              <a:rPr lang="es-ES" b="1" dirty="0">
                <a:latin typeface="Poppins" panose="00000500000000000000" pitchFamily="2" charset="0"/>
                <a:cs typeface="Poppins" panose="00000500000000000000" pitchFamily="2" charset="0"/>
              </a:rPr>
              <a:t>macOS, Linux y Windows</a:t>
            </a:r>
            <a:endParaRPr lang="es-E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52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95A7649E-9B93-B7C3-317E-9C06F7B7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5AA465F9-879F-8D78-2CF1-4B28EB4C2BF5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D2C7FF25-EECF-C6B7-4729-6603069D6F15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8E6C8B-6C01-8B59-84EA-576D5FF8FCA8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Colab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694ED123-D026-1B14-F1C7-EF1A437DF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24" y="836541"/>
            <a:ext cx="7249340" cy="40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3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C3264A2A-1C58-2F58-B97F-8C05E0D4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7B7B6DC8-F0F9-C66B-89EE-D6C5669BF2D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32AEF6BA-92C9-0409-BC04-F24E2D7C4ABA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42F5E3-AAC3-5E14-32D9-9DBD2C9D8F0D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NGrok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Imagen 7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C9C2B34C-34C3-1BDC-9C7E-9470FCF9A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62" y="836541"/>
            <a:ext cx="7151649" cy="395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693758C-9003-C929-915D-D54BBDD4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BCA44575-596E-A4E1-9A40-70FE8EFDB29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53357F21-D96D-C593-A01F-03F2DF073E48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AA49C3-EB37-4950-E4B9-1D792464E27B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Master </a:t>
            </a:r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Class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E5CF57F1-2632-C377-A9F3-DEA2CD04C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242" y="938611"/>
            <a:ext cx="6596022" cy="364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1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FF4D16A-917C-57EA-2AF6-77FF2D21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0E4B197F-7F83-E49A-26D6-7E680696209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94EA7928-A7B4-B5F1-2559-1E83FF520731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1D0C8A-E7D3-5129-B43E-28D1340D7331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Master </a:t>
            </a:r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Class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Imagen 4" descr="Texto, Carta&#10;&#10;El contenido generado por IA puede ser incorrecto.">
            <a:extLst>
              <a:ext uri="{FF2B5EF4-FFF2-40B4-BE49-F238E27FC236}">
                <a16:creationId xmlns:a16="http://schemas.microsoft.com/office/drawing/2014/main" id="{5ABE21E7-12FF-3C0C-278D-7A1B0E5B4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65" y="1443447"/>
            <a:ext cx="8631044" cy="255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9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1F1E175-0A12-178C-8335-4B39D7FD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2;g3631ade00a6_0_0">
            <a:extLst>
              <a:ext uri="{FF2B5EF4-FFF2-40B4-BE49-F238E27FC236}">
                <a16:creationId xmlns:a16="http://schemas.microsoft.com/office/drawing/2014/main" id="{C26916CE-FE0C-E35F-D1DE-E43DDCC83B4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56341" y="4739788"/>
            <a:ext cx="1166176" cy="2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645892eded_0_0">
            <a:extLst>
              <a:ext uri="{FF2B5EF4-FFF2-40B4-BE49-F238E27FC236}">
                <a16:creationId xmlns:a16="http://schemas.microsoft.com/office/drawing/2014/main" id="{84A1C69F-322E-71BD-3A17-DA85F0AF5569}"/>
              </a:ext>
            </a:extLst>
          </p:cNvPr>
          <p:cNvSpPr/>
          <p:nvPr/>
        </p:nvSpPr>
        <p:spPr>
          <a:xfrm rot="5400000">
            <a:off x="815175" y="-196850"/>
            <a:ext cx="26100" cy="1803600"/>
          </a:xfrm>
          <a:prstGeom prst="rect">
            <a:avLst/>
          </a:prstGeom>
          <a:solidFill>
            <a:srgbClr val="1C4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" sz="1400" b="0" i="0" u="none" strike="noStrike" cap="none" noProof="0" dirty="0">
              <a:solidFill>
                <a:srgbClr val="6C9FFF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2E9F3CE-B91B-45DD-8A39-5A9337B5FE65}"/>
              </a:ext>
            </a:extLst>
          </p:cNvPr>
          <p:cNvSpPr txBox="1"/>
          <p:nvPr/>
        </p:nvSpPr>
        <p:spPr>
          <a:xfrm>
            <a:off x="248765" y="111695"/>
            <a:ext cx="4828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Poppins" panose="00000500000000000000" pitchFamily="2" charset="0"/>
                <a:cs typeface="Poppins" panose="00000500000000000000" pitchFamily="2" charset="0"/>
              </a:rPr>
              <a:t>Master </a:t>
            </a:r>
            <a:r>
              <a:rPr lang="es-ES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Class</a:t>
            </a:r>
            <a:endParaRPr lang="es-ES" sz="1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F6310B2-A4A1-8EEF-28F9-E0603E6EE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02" y="870188"/>
            <a:ext cx="7211596" cy="37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53553"/>
      </p:ext>
    </p:extLst>
  </p:cSld>
  <p:clrMapOvr>
    <a:masterClrMapping/>
  </p:clrMapOvr>
</p:sld>
</file>

<file path=ppt/theme/theme1.xml><?xml version="1.0" encoding="utf-8"?>
<a:theme xmlns:a="http://schemas.openxmlformats.org/drawingml/2006/main" name="1. PORTADA">
  <a:themeElements>
    <a:clrScheme name="ThePower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3FFCA"/>
      </a:accent1>
      <a:accent2>
        <a:srgbClr val="212121"/>
      </a:accent2>
      <a:accent3>
        <a:srgbClr val="6C9FFF"/>
      </a:accent3>
      <a:accent4>
        <a:srgbClr val="FFA272"/>
      </a:accent4>
      <a:accent5>
        <a:srgbClr val="F85E5E"/>
      </a:accent5>
      <a:accent6>
        <a:srgbClr val="1C4B56"/>
      </a:accent6>
      <a:hlink>
        <a:srgbClr val="428065"/>
      </a:hlink>
      <a:folHlink>
        <a:srgbClr val="365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5066</TotalTime>
  <Words>59</Words>
  <Application>Microsoft Office PowerPoint</Application>
  <PresentationFormat>Presentación en pantalla (16:9)</PresentationFormat>
  <Paragraphs>13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Calibri</vt:lpstr>
      <vt:lpstr>Helvetica Neue</vt:lpstr>
      <vt:lpstr>Helvetica Neue Light</vt:lpstr>
      <vt:lpstr>Poppins</vt:lpstr>
      <vt:lpstr>Poppins ExtraBold</vt:lpstr>
      <vt:lpstr>Poppins Light</vt:lpstr>
      <vt:lpstr>Poppins Medium</vt:lpstr>
      <vt:lpstr>Tahoma</vt:lpstr>
      <vt:lpstr>1. PORTADA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sgonzalez</dc:creator>
  <cp:lastModifiedBy>Wilson Javier Forero Baquero</cp:lastModifiedBy>
  <cp:revision>94</cp:revision>
  <dcterms:modified xsi:type="dcterms:W3CDTF">2026-02-26T19:33:48Z</dcterms:modified>
</cp:coreProperties>
</file>